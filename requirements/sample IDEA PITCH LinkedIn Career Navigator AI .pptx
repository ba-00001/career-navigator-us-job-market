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Roboto Mono Light"/>
      <p:regular r:id="rId28"/>
      <p:bold r:id="rId29"/>
      <p:italic r:id="rId30"/>
      <p:boldItalic r:id="rId31"/>
    </p:embeddedFont>
    <p:embeddedFont>
      <p:font typeface="Open Sans Light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Ligh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Light-boldItalic.fntdata"/><Relationship Id="rId30" Type="http://schemas.openxmlformats.org/officeDocument/2006/relationships/font" Target="fonts/RobotoMonoLight-italic.fntdata"/><Relationship Id="rId11" Type="http://schemas.openxmlformats.org/officeDocument/2006/relationships/slide" Target="slides/slide6.xml"/><Relationship Id="rId33" Type="http://schemas.openxmlformats.org/officeDocument/2006/relationships/font" Target="fonts/OpenSansLight-bold.fntdata"/><Relationship Id="rId10" Type="http://schemas.openxmlformats.org/officeDocument/2006/relationships/slide" Target="slides/slide5.xml"/><Relationship Id="rId32" Type="http://schemas.openxmlformats.org/officeDocument/2006/relationships/font" Target="fonts/OpenSansLight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Light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7515110cb_1_2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57515110cb_1_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7515110cb_1_2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57515110cb_1_2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2a7771621_0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62a7771621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23f821389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23f821389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2a777162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62a777162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2a7771621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62a7771621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2a7771621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62a7771621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a7771621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62a7771621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2a7771621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62a7771621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1265ad5f5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61265ad5f5_0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94a775e9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394a775e9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2a7771621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62a7771621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2a7771621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62a7771621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2ab51fd84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62ab51fd84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2a7771621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62a7771621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394a775e9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394a775e9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394a775e9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394a775e9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2ab51fd84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62ab51fd84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394a775e9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394a775e9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394a775e9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394a775e9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394a775e9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394a775e9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10" l="0" r="0" t="3420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10" l="0" r="0" t="3420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63659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LinkedIn Career Navigator AI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5959675"/>
            <a:ext cx="13334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Personalized AI-powered career growth inside LinkedIn</a:t>
            </a:r>
            <a:endParaRPr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Product Owner: </a:t>
            </a:r>
            <a:r>
              <a:rPr b="1" lang="en"/>
              <a:t>Brian Bazurto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Why are we here?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Background</a:t>
            </a:r>
            <a:endParaRPr sz="1000"/>
          </a:p>
        </p:txBody>
      </p:sp>
      <p:sp>
        <p:nvSpPr>
          <p:cNvPr id="115" name="Google Shape;115;p14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Professionals often struggle to identify: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Which skills they are missing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What certifications to pursue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Who to connect with to advance careers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Although LinkedIn provides job listings, courses, and networking tools, it does not yet provide personalized career growth roadmaps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LinkedIn Career Navigator AI transforms LinkedIn into a structured career-development platform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Career growth today lacks structure.</a:t>
            </a:r>
            <a:endParaRPr b="1" sz="300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4294967295"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Open Sans"/>
              <a:buNone/>
            </a:pPr>
            <a:r>
              <a:rPr lang="en" sz="7600">
                <a:solidFill>
                  <a:schemeClr val="lt1"/>
                </a:solidFill>
              </a:rPr>
              <a:t>Business Case</a:t>
            </a:r>
            <a:endParaRPr sz="1000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Where are we starting?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Initial Focus</a:t>
            </a:r>
            <a:endParaRPr sz="1000"/>
          </a:p>
        </p:txBody>
      </p:sp>
      <p:sp>
        <p:nvSpPr>
          <p:cNvPr id="127" name="Google Shape;127;p16"/>
          <p:cNvSpPr txBox="1"/>
          <p:nvPr/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Pain Points: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Users don’t know what skills they need next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Career growth resources exist across multiple platforms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Learning paths are not personalized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Networking is not strategic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Professionals lack clarity on what skills to learn next</a:t>
            </a:r>
            <a:endParaRPr sz="3000">
              <a:solidFill>
                <a:srgbClr val="2E3D4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D3D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Where are we starting?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Initial Focus</a:t>
            </a:r>
            <a:endParaRPr sz="1000"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Evidence: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Over 40% of workers say they need new skills to advance careers (LinkedIn Workplace Learning Report)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Call to Action: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647700" lvl="0" marL="18288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 an AI-powered system that identifies skill gaps and recommends structured career pathways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Professionals lack clarity on what skills to learn next</a:t>
            </a:r>
            <a:endParaRPr sz="3000">
              <a:solidFill>
                <a:srgbClr val="2E3D4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D3D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What’s </a:t>
            </a:r>
            <a:r>
              <a:rPr lang="en">
                <a:solidFill>
                  <a:schemeClr val="accent1"/>
                </a:solidFill>
              </a:rPr>
              <a:t>the problem</a:t>
            </a:r>
            <a:r>
              <a:rPr lang="en">
                <a:solidFill>
                  <a:schemeClr val="accent1"/>
                </a:solidFill>
              </a:rPr>
              <a:t>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Opportunity</a:t>
            </a:r>
            <a:endParaRPr sz="1000"/>
          </a:p>
        </p:txBody>
      </p:sp>
      <p:sp>
        <p:nvSpPr>
          <p:cNvPr id="141" name="Google Shape;141;p18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Global workforce training market: ≈ $366B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LinkedIn user base: ≈ 1 billion users worldwide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Initial Target Segment: Early-career professionals in U.S. tech workforce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Estimated entry opportunity: ≈ $50M segment</a:t>
            </a:r>
            <a:endParaRPr sz="3000"/>
          </a:p>
          <a:p>
            <a:pPr indent="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Even small adoption creates strong platform growth potential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What’s our solution?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Proposal</a:t>
            </a:r>
            <a:endParaRPr sz="1000"/>
          </a:p>
        </p:txBody>
      </p:sp>
      <p:sp>
        <p:nvSpPr>
          <p:cNvPr id="148" name="Google Shape;148;p19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LinkedIn Career Navigator AI provides: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AI skill gap detection, personalized learning recommendations, certification suggestions, networking opportunity matching, career progression dashboards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Target Users: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Early-career professionals, career switchers, students entering workforce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Transforms LinkedIn from networking platform → career growth engine</a:t>
            </a:r>
            <a:endParaRPr b="1" sz="3000"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What can we do?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Return On Investment</a:t>
            </a:r>
            <a:endParaRPr sz="1000"/>
          </a:p>
        </p:txBody>
      </p:sp>
      <p:sp>
        <p:nvSpPr>
          <p:cNvPr id="155" name="Google Shape;155;p20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Estimated Development Cost: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2 engineers × 4 months × $10,000/month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Expected Revenue Model: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Total cost: ≈ $80,000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Revenue Opportunity: Premium Career Navigator subscription $12/month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" sz="3000"/>
              <a:t>Year‑1Projection: 5,000 subscribers = $720,000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Break‑Even Timeline: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Within first year after launch</a:t>
            </a:r>
            <a:endParaRPr sz="3000"/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How will we know if we’re successful?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Measurement</a:t>
            </a:r>
            <a:endParaRPr sz="1000"/>
          </a:p>
        </p:txBody>
      </p:sp>
      <p:sp>
        <p:nvSpPr>
          <p:cNvPr id="162" name="Google Shape;162;p21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Year‑1 KPIs: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50,000 users activate Career Navigator, 35% weekly engagement rate, 25% course enrollment increase, 20% profile skill updates within 90 days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Supporting Metrics: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Retention after 30 days, career transition tracking, certification completion rates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idx="4294967295"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Open Sans"/>
              <a:buNone/>
            </a:pPr>
            <a:r>
              <a:rPr lang="en" sz="7600">
                <a:solidFill>
                  <a:schemeClr val="lt1"/>
                </a:solidFill>
              </a:rPr>
              <a:t>Competitors</a:t>
            </a:r>
            <a:endParaRPr sz="1000"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Coursera Career Academy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73" name="Google Shape;173;p23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Competitor 1</a:t>
            </a:r>
            <a:endParaRPr sz="1000"/>
          </a:p>
        </p:txBody>
      </p:sp>
      <p:sp>
        <p:nvSpPr>
          <p:cNvPr id="174" name="Google Shape;174;p23"/>
          <p:cNvSpPr txBox="1"/>
          <p:nvPr>
            <p:ph idx="4294967295" type="body"/>
          </p:nvPr>
        </p:nvSpPr>
        <p:spPr>
          <a:xfrm>
            <a:off x="1266400" y="2752900"/>
            <a:ext cx="16107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Structured certification programs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Industry-recognized credentials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Guided learning tracks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Employer partnerships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Limitation: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Courses exist outside LinkedIn ecosystem</a:t>
            </a:r>
            <a:endParaRPr sz="3000"/>
          </a:p>
          <a:p>
            <a:pPr indent="0" lvl="0" marL="91440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Google Career Certificates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80" name="Google Shape;180;p2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Competitor 2</a:t>
            </a:r>
            <a:endParaRPr sz="1000"/>
          </a:p>
        </p:txBody>
      </p:sp>
      <p:sp>
        <p:nvSpPr>
          <p:cNvPr id="181" name="Google Shape;181;p24"/>
          <p:cNvSpPr txBox="1"/>
          <p:nvPr>
            <p:ph idx="4294967295" type="body"/>
          </p:nvPr>
        </p:nvSpPr>
        <p:spPr>
          <a:xfrm>
            <a:off x="1266400" y="2752900"/>
            <a:ext cx="16107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</a:t>
            </a:r>
            <a:r>
              <a:rPr lang="en" sz="3000"/>
              <a:t>ntry-level job skill programs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Flexible online learning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Employer-recognized credentials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transition support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Limitation: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Limited personalization based on profile data</a:t>
            </a:r>
            <a:endParaRPr sz="3000"/>
          </a:p>
          <a:p>
            <a:pPr indent="0" lvl="0" marL="91440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Why LinkedIn Wins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187" name="Google Shape;187;p2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Our Advantages</a:t>
            </a:r>
            <a:endParaRPr sz="1000"/>
          </a:p>
        </p:txBody>
      </p:sp>
      <p:sp>
        <p:nvSpPr>
          <p:cNvPr id="188" name="Google Shape;188;p25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Competitive Advantages: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Existing user career profiles, job-market trend data, built-in networking ecosystem, LinkedIn Learning integration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LinkedIn uniquely connects: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skills + jobs + learning + networking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No competitor combines all four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4294967295" type="ctrTitle"/>
          </p:nvPr>
        </p:nvSpPr>
        <p:spPr>
          <a:xfrm>
            <a:off x="1225200" y="2813950"/>
            <a:ext cx="129192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Open Sans"/>
              <a:buNone/>
            </a:pPr>
            <a:r>
              <a:rPr lang="en" sz="7600">
                <a:solidFill>
                  <a:schemeClr val="lt1"/>
                </a:solidFill>
              </a:rPr>
              <a:t>Roadmap and Vision</a:t>
            </a:r>
            <a:endParaRPr sz="1000"/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Where do we go from here?</a:t>
            </a:r>
            <a:endParaRPr sz="1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Roadmap Pillars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Our vision support professionals throughout entire career lifecycle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From: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Student → entry-level → leadership roles</a:t>
            </a:r>
            <a:endParaRPr sz="3000"/>
          </a:p>
          <a:p>
            <a:pPr indent="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Career Navigator becomes central decision-making assistant for career strategy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Skill Gap Intelligence Engine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Roadmap</a:t>
            </a:r>
            <a:r>
              <a:rPr lang="en"/>
              <a:t> 1</a:t>
            </a:r>
            <a:endParaRPr sz="1000"/>
          </a:p>
        </p:txBody>
      </p:sp>
      <p:sp>
        <p:nvSpPr>
          <p:cNvPr id="207" name="Google Shape;207;p28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AI detects missing skills automatically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readiness scoring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Industry trend tracking dashboard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Goal: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Help users understand exactly what to learn next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AI Coaching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Roadmap</a:t>
            </a:r>
            <a:r>
              <a:rPr lang="en"/>
              <a:t> 2</a:t>
            </a:r>
            <a:endParaRPr sz="1000"/>
          </a:p>
        </p:txBody>
      </p:sp>
      <p:sp>
        <p:nvSpPr>
          <p:cNvPr id="214" name="Google Shape;214;p29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W</a:t>
            </a:r>
            <a:r>
              <a:rPr lang="en" sz="3000"/>
              <a:t>eekly learning plans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Certification suggestions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transition simulations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Goal: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Turn insight into action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Community Support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20" name="Google Shape;220;p30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Roadmap</a:t>
            </a:r>
            <a:r>
              <a:rPr lang="en"/>
              <a:t> 3</a:t>
            </a:r>
            <a:endParaRPr sz="1000"/>
          </a:p>
        </p:txBody>
      </p:sp>
      <p:sp>
        <p:nvSpPr>
          <p:cNvPr id="221" name="Google Shape;221;p30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M</a:t>
            </a:r>
            <a:r>
              <a:rPr lang="en" sz="3000"/>
              <a:t>entor recommendations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Peer learning groups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Industry expert connection suggestions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Goal: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Turn networking into strategic advantage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Future Expansion</a:t>
            </a:r>
            <a:endParaRPr sz="1000"/>
          </a:p>
        </p:txBody>
      </p:sp>
      <p:sp>
        <p:nvSpPr>
          <p:cNvPr id="228" name="Google Shape;228;p31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Future Features: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University partnerships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Recruiter integration tools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readiness analytics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Enterprise workforce dashboards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Platform evolves into full workforce intelligence ecosystem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34" name="Google Shape;234;p32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Partnerships</a:t>
            </a:r>
            <a:endParaRPr sz="1000"/>
          </a:p>
        </p:txBody>
      </p:sp>
      <p:sp>
        <p:nvSpPr>
          <p:cNvPr id="235" name="Google Shape;235;p32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Potential Partners: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LinkedIn Learning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Coursera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Google Career Certificates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Universities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Enterprise HR platforms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Partnerships accelerate adoption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241" name="Google Shape;241;p33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Go‑To‑Market Strategy</a:t>
            </a:r>
            <a:endParaRPr sz="1000"/>
          </a:p>
        </p:txBody>
      </p:sp>
      <p:sp>
        <p:nvSpPr>
          <p:cNvPr id="242" name="Google Shape;242;p33"/>
          <p:cNvSpPr txBox="1"/>
          <p:nvPr>
            <p:ph idx="4294967295" type="body"/>
          </p:nvPr>
        </p:nvSpPr>
        <p:spPr>
          <a:xfrm>
            <a:off x="914400" y="2819400"/>
            <a:ext cx="16459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Launch Strategy: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U</a:t>
            </a:r>
            <a:r>
              <a:rPr lang="en" sz="3000"/>
              <a:t>niversity students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switchers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Tech professionals within first 5 years experience</a:t>
            </a:r>
            <a:endParaRPr sz="3000"/>
          </a:p>
          <a:p>
            <a:pPr indent="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Channels: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LinkedIn notifications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Campus ambassadors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Career centers</a:t>
            </a:r>
            <a:endParaRPr sz="3000"/>
          </a:p>
          <a:p>
            <a:pPr indent="-6477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/>
              <a:t>LinkedIn Learning integration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Key takeaway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/>
              <a:t>Start with early-career professionals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685825" y="5953600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rPr lang="en">
                <a:solidFill>
                  <a:schemeClr val="accent1"/>
                </a:solidFill>
              </a:rPr>
              <a:t>LinkedIn Career Navigator AI provides that direction.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Font typeface="Open Sans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8" name="Google Shape;248;p34"/>
          <p:cNvSpPr txBox="1"/>
          <p:nvPr>
            <p:ph type="title"/>
          </p:nvPr>
        </p:nvSpPr>
        <p:spPr>
          <a:xfrm>
            <a:off x="685850" y="2787612"/>
            <a:ext cx="169164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rPr lang="en"/>
              <a:t>Professionals don’t struggle in their careers because they lack motivation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249" name="Google Shape;249;p34"/>
          <p:cNvSpPr txBox="1"/>
          <p:nvPr>
            <p:ph idx="4294967295" type="body"/>
          </p:nvPr>
        </p:nvSpPr>
        <p:spPr>
          <a:xfrm>
            <a:off x="914400" y="4513899"/>
            <a:ext cx="164592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000"/>
              <a:t>They struggle because they lack direction</a:t>
            </a:r>
            <a:endParaRPr sz="3000"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